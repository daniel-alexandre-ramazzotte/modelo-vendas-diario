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22"/>
  </p:notesMasterIdLst>
  <p:handoutMasterIdLst>
    <p:handoutMasterId r:id="rId23"/>
  </p:handoutMasterIdLst>
  <p:sldIdLst>
    <p:sldId id="270" r:id="rId2"/>
    <p:sldId id="603" r:id="rId3"/>
    <p:sldId id="604" r:id="rId4"/>
    <p:sldId id="605" r:id="rId5"/>
    <p:sldId id="475" r:id="rId6"/>
    <p:sldId id="476" r:id="rId7"/>
    <p:sldId id="532" r:id="rId8"/>
    <p:sldId id="533" r:id="rId9"/>
    <p:sldId id="535" r:id="rId10"/>
    <p:sldId id="536" r:id="rId11"/>
    <p:sldId id="578" r:id="rId12"/>
    <p:sldId id="580" r:id="rId13"/>
    <p:sldId id="579" r:id="rId14"/>
    <p:sldId id="534" r:id="rId15"/>
    <p:sldId id="538" r:id="rId16"/>
    <p:sldId id="584" r:id="rId17"/>
    <p:sldId id="581" r:id="rId18"/>
    <p:sldId id="582" r:id="rId19"/>
    <p:sldId id="585" r:id="rId20"/>
    <p:sldId id="58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E6DC68D6-4DEC-447F-B079-8F21A023B233}">
          <p14:sldIdLst>
            <p14:sldId id="270"/>
            <p14:sldId id="603"/>
            <p14:sldId id="604"/>
            <p14:sldId id="605"/>
          </p14:sldIdLst>
        </p14:section>
        <p14:section name="Quantidade" id="{9F1D9DD6-3199-40DC-BED2-CFCD99F54D62}">
          <p14:sldIdLst>
            <p14:sldId id="475"/>
          </p14:sldIdLst>
        </p14:section>
        <p14:section name="Valor" id="{496BC03E-5D6A-48EC-A16A-123090DECF85}">
          <p14:sldIdLst>
            <p14:sldId id="476"/>
            <p14:sldId id="532"/>
            <p14:sldId id="533"/>
            <p14:sldId id="535"/>
            <p14:sldId id="536"/>
            <p14:sldId id="578"/>
            <p14:sldId id="580"/>
            <p14:sldId id="579"/>
            <p14:sldId id="534"/>
            <p14:sldId id="538"/>
            <p14:sldId id="584"/>
            <p14:sldId id="581"/>
            <p14:sldId id="582"/>
            <p14:sldId id="585"/>
            <p14:sldId id="58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2F2F2"/>
    <a:srgbClr val="D9D9D9"/>
    <a:srgbClr val="163056"/>
    <a:srgbClr val="83CBEB"/>
    <a:srgbClr val="AFD0DF"/>
    <a:srgbClr val="156082"/>
    <a:srgbClr val="F1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E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03447BB-5D67-496B-8E87-E561075AD55C}" styleName="Estilo Escuro 1 - Ênfase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FECB4D8-DB02-4DC6-A0A2-4F2EBAE1DC90}" styleName="Estilo Médio 1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Estilo Claro 1 - Ênfas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Estilo Claro 3 - Ênfase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46F890A9-2807-4EBB-B81D-B2AA78EC7F39}" styleName="Estilo Escuro 2 - Ênfase 5/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C4B1156A-380E-4F78-BDF5-A606A8083BF9}" styleName="Estilo Médio 4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93525" autoAdjust="0"/>
  </p:normalViewPr>
  <p:slideViewPr>
    <p:cSldViewPr snapToGrid="0">
      <p:cViewPr varScale="1">
        <p:scale>
          <a:sx n="103" d="100"/>
          <a:sy n="103" d="100"/>
        </p:scale>
        <p:origin x="89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12D64355-8CBB-8A7D-57D6-FF073AF31C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327CC58-3CAD-BEA3-A79E-44796044AC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B5E110-C86F-48E0-ABCF-F1A3ACB824DA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380BE5D-E1B7-BA78-6C00-F9E651D370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4C4033F-891B-4896-B540-3050378E84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BCE85-82F1-4D0C-8D1B-741647A13C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24021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FE7B48-CCB7-4BA1-A24E-F5E8117E5BB1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06586-28D0-46FA-A603-BC99B5C482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0084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9939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66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8269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95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8398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8174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pic>
        <p:nvPicPr>
          <p:cNvPr id="5" name="Imagem 4" descr="Logotipo&#10;&#10;Descrição gerada automaticamente">
            <a:extLst>
              <a:ext uri="{FF2B5EF4-FFF2-40B4-BE49-F238E27FC236}">
                <a16:creationId xmlns:a16="http://schemas.microsoft.com/office/drawing/2014/main" id="{ECCBEDDF-E6A9-8435-BFD9-5D4D2584E3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9907" cy="332153"/>
          </a:xfrm>
          <a:prstGeom prst="rect">
            <a:avLst/>
          </a:prstGeom>
        </p:spPr>
      </p:pic>
      <p:pic>
        <p:nvPicPr>
          <p:cNvPr id="6" name="Imagem 5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3CA9491A-2500-04E9-D38D-833E1D2D1E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495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5477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165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235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5540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beçalho da Seção">
    <p:bg>
      <p:bgPr>
        <a:solidFill>
          <a:srgbClr val="1630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Texto, Logotipo&#10;&#10;Descrição gerada automaticamente">
            <a:extLst>
              <a:ext uri="{FF2B5EF4-FFF2-40B4-BE49-F238E27FC236}">
                <a16:creationId xmlns:a16="http://schemas.microsoft.com/office/drawing/2014/main" id="{55698509-1D57-EB84-D197-9E95509E8B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7269" cy="3312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D268158-BEC3-508C-98D8-2DF7DC78D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2632"/>
            <a:ext cx="10515600" cy="2852737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0A0FB7-6043-E26E-D1C1-0515C7A59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2FBCB7-88FC-856E-515D-347A2AABE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DB93DB-7CDB-E176-EDCD-65481BB54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ED961C5A-4D8D-359D-987E-B393BB7AAF7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012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64F99C34-A082-5E60-D91F-F90329A9E80C}"/>
              </a:ext>
            </a:extLst>
          </p:cNvPr>
          <p:cNvSpPr/>
          <p:nvPr userDrawn="1"/>
        </p:nvSpPr>
        <p:spPr>
          <a:xfrm>
            <a:off x="0" y="0"/>
            <a:ext cx="5249100" cy="6858000"/>
          </a:xfrm>
          <a:prstGeom prst="rect">
            <a:avLst/>
          </a:prstGeom>
          <a:solidFill>
            <a:srgbClr val="1630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D62ACB-EEFA-1428-AFD0-B8A049A1D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2900" y="987425"/>
            <a:ext cx="593248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BEC817C-FA32-BE58-8557-854990BA4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8431" y="979487"/>
            <a:ext cx="3932237" cy="488156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E65537-5CD9-D1FF-F29D-1D9C91A9F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8F1997-BB3C-3988-0B78-513126094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B8464B-8829-104F-3FDB-C15E24A92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0CEFD8BA-5D6A-8764-76BE-1B52775A79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9907" cy="332153"/>
          </a:xfrm>
          <a:prstGeom prst="rect">
            <a:avLst/>
          </a:prstGeom>
        </p:spPr>
      </p:pic>
      <p:pic>
        <p:nvPicPr>
          <p:cNvPr id="9" name="Imagem 8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1D66BCAA-4CF9-5624-904F-D15725AF6E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888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10A68-A004-5B9B-6215-EDDDC7B7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66" y="365126"/>
            <a:ext cx="11551668" cy="521566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43D293-44BC-D7B5-D651-09C7DDB6B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166" y="1408258"/>
            <a:ext cx="11551668" cy="476870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22C96D-EBB1-48B5-23D6-9036F4640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055430-551F-D2E1-45C1-3E89C7B06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AA377D-321F-16BE-D103-78B527C0E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DB67FF10-C7A3-104F-F296-1BCFB5A74A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166" y="886692"/>
            <a:ext cx="11551668" cy="38374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9" name="Imagem 8" descr="Logotipo&#10;&#10;Descrição gerada automaticamente">
            <a:extLst>
              <a:ext uri="{FF2B5EF4-FFF2-40B4-BE49-F238E27FC236}">
                <a16:creationId xmlns:a16="http://schemas.microsoft.com/office/drawing/2014/main" id="{E10259B9-19C3-D0DC-5143-7A4C57A6FE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9907" cy="332153"/>
          </a:xfrm>
          <a:prstGeom prst="rect">
            <a:avLst/>
          </a:prstGeom>
        </p:spPr>
      </p:pic>
      <p:pic>
        <p:nvPicPr>
          <p:cNvPr id="11" name="Imagem 10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E8D30009-2159-4A97-E532-F28528B1F8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233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10A68-A004-5B9B-6215-EDDDC7B7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65" y="365126"/>
            <a:ext cx="11551667" cy="521566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43D293-44BC-D7B5-D651-09C7DDB6B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166" y="1408258"/>
            <a:ext cx="9158034" cy="476870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22C96D-EBB1-48B5-23D6-9036F4640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055430-551F-D2E1-45C1-3E89C7B06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AA377D-321F-16BE-D103-78B527C0E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DB67FF10-C7A3-104F-F296-1BCFB5A74A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165" y="886692"/>
            <a:ext cx="11551667" cy="38374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9" name="Imagem 8" descr="Logotipo&#10;&#10;Descrição gerada automaticamente">
            <a:extLst>
              <a:ext uri="{FF2B5EF4-FFF2-40B4-BE49-F238E27FC236}">
                <a16:creationId xmlns:a16="http://schemas.microsoft.com/office/drawing/2014/main" id="{E10259B9-19C3-D0DC-5143-7A4C57A6FE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9907" cy="332153"/>
          </a:xfrm>
          <a:prstGeom prst="rect">
            <a:avLst/>
          </a:prstGeom>
        </p:spPr>
      </p:pic>
      <p:pic>
        <p:nvPicPr>
          <p:cNvPr id="11" name="Imagem 10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E8D30009-2159-4A97-E532-F28528B1F8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64FCC4E4-04A1-18B6-3DB7-934E423F8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75320" y="1408112"/>
            <a:ext cx="2296513" cy="4768705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just">
              <a:buNone/>
              <a:defRPr lang="pt-BR" sz="1200" dirty="0" smtClean="0"/>
            </a:lvl1pPr>
            <a:lvl2pPr>
              <a:defRPr lang="pt-BR" sz="1800" dirty="0" smtClean="0"/>
            </a:lvl2pPr>
            <a:lvl3pPr>
              <a:defRPr lang="pt-BR" sz="1600" dirty="0" smtClean="0"/>
            </a:lvl3pPr>
            <a:lvl4pPr>
              <a:defRPr lang="pt-BR" sz="1400" dirty="0" smtClean="0"/>
            </a:lvl4pPr>
            <a:lvl5pPr>
              <a:defRPr lang="pt-BR" sz="1400" dirty="0"/>
            </a:lvl5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06234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79FE0-302F-434C-6C93-71ABF72C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66" y="365125"/>
            <a:ext cx="11551668" cy="522000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6E331F-6DA7-5551-159C-7ACDA99FD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166" y="1408113"/>
            <a:ext cx="5699634" cy="2340000"/>
          </a:xfrm>
        </p:spPr>
        <p:txBody>
          <a:bodyPr>
            <a:normAutofit/>
          </a:bodyPr>
          <a:lstStyle>
            <a:lvl1pPr>
              <a:defRPr lang="pt-BR" sz="1800" dirty="0"/>
            </a:lvl1pPr>
            <a:lvl2pPr>
              <a:defRPr lang="pt-BR" sz="1600" dirty="0"/>
            </a:lvl2pPr>
            <a:lvl3pPr>
              <a:defRPr lang="pt-BR" sz="1400" dirty="0"/>
            </a:lvl3pPr>
            <a:lvl4pPr>
              <a:defRPr lang="pt-BR" sz="1200" dirty="0"/>
            </a:lvl4pPr>
            <a:lvl5pPr>
              <a:defRPr lang="pt-BR" sz="120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DD754B-AF44-5811-E614-C0A0D0612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08113"/>
            <a:ext cx="5699634" cy="476885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B924C5-BDEA-B787-AC83-B1BD181C4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600CF7-BEDC-161A-A48B-A746D52F3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468029-416C-5080-A931-E128FE511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8692E152-9411-B309-3448-776314F7B6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9907" cy="332153"/>
          </a:xfrm>
          <a:prstGeom prst="rect">
            <a:avLst/>
          </a:prstGeom>
        </p:spPr>
      </p:pic>
      <p:pic>
        <p:nvPicPr>
          <p:cNvPr id="9" name="Imagem 8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5F607262-F5D7-43A1-92AA-7E59544DAD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  <p:sp>
        <p:nvSpPr>
          <p:cNvPr id="10" name="Espaço Reservado para Texto 7">
            <a:extLst>
              <a:ext uri="{FF2B5EF4-FFF2-40B4-BE49-F238E27FC236}">
                <a16:creationId xmlns:a16="http://schemas.microsoft.com/office/drawing/2014/main" id="{4332392D-676F-8A09-A78E-28B40CBA2D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166" y="886692"/>
            <a:ext cx="11551668" cy="38374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F678E693-BE14-FFA5-5BA9-2EACCC4F88C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0167" y="3836963"/>
            <a:ext cx="5699633" cy="2340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pt-BR" sz="1800" smtClean="0"/>
            </a:lvl1pPr>
            <a:lvl2pPr>
              <a:defRPr lang="pt-BR" sz="1600" smtClean="0"/>
            </a:lvl2pPr>
            <a:lvl3pPr>
              <a:defRPr lang="pt-BR" sz="1400" smtClean="0"/>
            </a:lvl3pPr>
            <a:lvl4pPr>
              <a:defRPr lang="pt-BR" sz="1200" smtClean="0"/>
            </a:lvl4pPr>
            <a:lvl5pPr>
              <a:defRPr lang="pt-BR"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7826071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79FE0-302F-434C-6C93-71ABF72C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66" y="365125"/>
            <a:ext cx="11551668" cy="522000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6E331F-6DA7-5551-159C-7ACDA99FD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166" y="1408112"/>
            <a:ext cx="5699634" cy="4768849"/>
          </a:xfrm>
        </p:spPr>
        <p:txBody>
          <a:bodyPr>
            <a:normAutofit/>
          </a:bodyPr>
          <a:lstStyle>
            <a:lvl1pPr>
              <a:defRPr lang="pt-BR" sz="1800" dirty="0"/>
            </a:lvl1pPr>
            <a:lvl2pPr>
              <a:defRPr lang="pt-BR" sz="1600" dirty="0"/>
            </a:lvl2pPr>
            <a:lvl3pPr>
              <a:defRPr lang="pt-BR" sz="1400" dirty="0"/>
            </a:lvl3pPr>
            <a:lvl4pPr>
              <a:defRPr lang="pt-BR" sz="1200" dirty="0"/>
            </a:lvl4pPr>
            <a:lvl5pPr>
              <a:defRPr lang="pt-BR" sz="120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DD754B-AF44-5811-E614-C0A0D0612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08113"/>
            <a:ext cx="5699634" cy="23400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B924C5-BDEA-B787-AC83-B1BD181C4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600CF7-BEDC-161A-A48B-A746D52F3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468029-416C-5080-A931-E128FE511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8692E152-9411-B309-3448-776314F7B6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9907" cy="332153"/>
          </a:xfrm>
          <a:prstGeom prst="rect">
            <a:avLst/>
          </a:prstGeom>
        </p:spPr>
      </p:pic>
      <p:pic>
        <p:nvPicPr>
          <p:cNvPr id="9" name="Imagem 8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5F607262-F5D7-43A1-92AA-7E59544DAD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  <p:sp>
        <p:nvSpPr>
          <p:cNvPr id="10" name="Espaço Reservado para Texto 7">
            <a:extLst>
              <a:ext uri="{FF2B5EF4-FFF2-40B4-BE49-F238E27FC236}">
                <a16:creationId xmlns:a16="http://schemas.microsoft.com/office/drawing/2014/main" id="{4332392D-676F-8A09-A78E-28B40CBA2D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166" y="886692"/>
            <a:ext cx="11551668" cy="38374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A458088C-384C-E884-3A53-E1785D68BF2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72200" y="3836963"/>
            <a:ext cx="5699632" cy="233999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pt-BR" sz="1800" dirty="0" smtClean="0"/>
            </a:lvl1pPr>
            <a:lvl2pPr>
              <a:defRPr lang="pt-BR" sz="1600" dirty="0" smtClean="0"/>
            </a:lvl2pPr>
            <a:lvl3pPr>
              <a:defRPr lang="pt-BR" sz="1400" dirty="0" smtClean="0"/>
            </a:lvl3pPr>
            <a:lvl4pPr>
              <a:defRPr lang="pt-BR" sz="1200" dirty="0" smtClean="0"/>
            </a:lvl4pPr>
            <a:lvl5pPr>
              <a:defRPr lang="pt-BR" sz="120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9963392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79FE0-302F-434C-6C93-71ABF72C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66" y="365125"/>
            <a:ext cx="11551668" cy="522000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6E331F-6DA7-5551-159C-7ACDA99FD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166" y="1408113"/>
            <a:ext cx="5699634" cy="2340000"/>
          </a:xfrm>
        </p:spPr>
        <p:txBody>
          <a:bodyPr>
            <a:normAutofit/>
          </a:bodyPr>
          <a:lstStyle>
            <a:lvl1pPr>
              <a:defRPr lang="pt-BR" sz="1800" dirty="0"/>
            </a:lvl1pPr>
            <a:lvl2pPr>
              <a:defRPr lang="pt-BR" sz="1600" dirty="0"/>
            </a:lvl2pPr>
            <a:lvl3pPr>
              <a:defRPr lang="pt-BR" sz="1400" dirty="0"/>
            </a:lvl3pPr>
            <a:lvl4pPr>
              <a:defRPr lang="pt-BR" sz="1200" dirty="0"/>
            </a:lvl4pPr>
            <a:lvl5pPr>
              <a:defRPr lang="pt-BR" sz="120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DD754B-AF44-5811-E614-C0A0D0612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08113"/>
            <a:ext cx="5699634" cy="23400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B924C5-BDEA-B787-AC83-B1BD181C4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600CF7-BEDC-161A-A48B-A746D52F3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468029-416C-5080-A931-E128FE511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8692E152-9411-B309-3448-776314F7B6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9907" cy="332153"/>
          </a:xfrm>
          <a:prstGeom prst="rect">
            <a:avLst/>
          </a:prstGeom>
        </p:spPr>
      </p:pic>
      <p:pic>
        <p:nvPicPr>
          <p:cNvPr id="9" name="Imagem 8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5F607262-F5D7-43A1-92AA-7E59544DAD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  <p:sp>
        <p:nvSpPr>
          <p:cNvPr id="10" name="Espaço Reservado para Texto 7">
            <a:extLst>
              <a:ext uri="{FF2B5EF4-FFF2-40B4-BE49-F238E27FC236}">
                <a16:creationId xmlns:a16="http://schemas.microsoft.com/office/drawing/2014/main" id="{4332392D-676F-8A09-A78E-28B40CBA2D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166" y="886692"/>
            <a:ext cx="11551668" cy="38374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F678E693-BE14-FFA5-5BA9-2EACCC4F88C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0167" y="3836963"/>
            <a:ext cx="5699633" cy="2340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pt-BR" sz="1800" smtClean="0"/>
            </a:lvl1pPr>
            <a:lvl2pPr>
              <a:defRPr lang="pt-BR" sz="1600" smtClean="0"/>
            </a:lvl2pPr>
            <a:lvl3pPr>
              <a:defRPr lang="pt-BR" sz="1400" smtClean="0"/>
            </a:lvl3pPr>
            <a:lvl4pPr>
              <a:defRPr lang="pt-BR" sz="1200" smtClean="0"/>
            </a:lvl4pPr>
            <a:lvl5pPr>
              <a:defRPr lang="pt-BR"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A458088C-384C-E884-3A53-E1785D68BF2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72200" y="3836963"/>
            <a:ext cx="5699632" cy="233999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pt-BR" sz="1800" dirty="0" smtClean="0"/>
            </a:lvl1pPr>
            <a:lvl2pPr>
              <a:defRPr lang="pt-BR" sz="1600" dirty="0" smtClean="0"/>
            </a:lvl2pPr>
            <a:lvl3pPr>
              <a:defRPr lang="pt-BR" sz="1400" dirty="0" smtClean="0"/>
            </a:lvl3pPr>
            <a:lvl4pPr>
              <a:defRPr lang="pt-BR" sz="1200" dirty="0" smtClean="0"/>
            </a:lvl4pPr>
            <a:lvl5pPr>
              <a:defRPr lang="pt-BR" sz="120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11672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2DEA9D-7575-4ABF-AD36-4DA550E9FD95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60DAFC9A-3B67-94BF-8646-B4AC05281F78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9907" cy="332153"/>
          </a:xfrm>
          <a:prstGeom prst="rect">
            <a:avLst/>
          </a:prstGeom>
        </p:spPr>
      </p:pic>
      <p:pic>
        <p:nvPicPr>
          <p:cNvPr id="8" name="Imagem 7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3CE7BB3C-CBC2-62F7-60E2-56771DDC0117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47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9" r:id="rId12"/>
    <p:sldLayoutId id="2147483680" r:id="rId13"/>
    <p:sldLayoutId id="2147483681" r:id="rId14"/>
    <p:sldLayoutId id="2147483661" r:id="rId15"/>
    <p:sldLayoutId id="2147483665" r:id="rId16"/>
    <p:sldLayoutId id="2147483664" r:id="rId17"/>
    <p:sldLayoutId id="2147483662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180C42-865C-6B97-E210-54FBBB62A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3119"/>
            <a:ext cx="10515600" cy="2852737"/>
          </a:xfrm>
        </p:spPr>
        <p:txBody>
          <a:bodyPr/>
          <a:lstStyle/>
          <a:p>
            <a:r>
              <a:rPr lang="pt-BR" dirty="0"/>
              <a:t>Projeção de Vendas Modelos Mensais</a:t>
            </a:r>
          </a:p>
        </p:txBody>
      </p:sp>
    </p:spTree>
    <p:extLst>
      <p:ext uri="{BB962C8B-B14F-4D97-AF65-F5344CB8AC3E}">
        <p14:creationId xmlns:p14="http://schemas.microsoft.com/office/powerpoint/2010/main" val="458569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1F314-B7FD-E382-ACC1-0A35C0216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8469CD-6E1E-0828-04E0-62E0B90CD24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>
                <a:latin typeface="+mj-lt"/>
              </a:rPr>
              <a:t>Contextualização</a:t>
            </a:r>
          </a:p>
        </p:txBody>
      </p:sp>
    </p:spTree>
    <p:extLst>
      <p:ext uri="{BB962C8B-B14F-4D97-AF65-F5344CB8AC3E}">
        <p14:creationId xmlns:p14="http://schemas.microsoft.com/office/powerpoint/2010/main" val="2350838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3765B-6393-6561-3E4C-351185BFC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18968F-B03C-90A6-9260-DD2A6033B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Diário de Vendas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36E74B-0307-A10F-6999-5900833CF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Foi realizado e validado o modelo de vendas diário 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C9D04CB-F9A5-D6CF-26E1-EBE50DAC17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63222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AD636-D4E9-993A-067F-55A5D0C53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1E5055-6EB4-5BAD-451B-8BDE72FE5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>
                <a:latin typeface="+mj-lt"/>
              </a:rPr>
              <a:t>Quantidade</a:t>
            </a:r>
          </a:p>
        </p:txBody>
      </p:sp>
    </p:spTree>
    <p:extLst>
      <p:ext uri="{BB962C8B-B14F-4D97-AF65-F5344CB8AC3E}">
        <p14:creationId xmlns:p14="http://schemas.microsoft.com/office/powerpoint/2010/main" val="540175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E57DD-D884-15B2-5B79-C0AD47929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AC10F81-B07E-C125-42F6-8450DA403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>
                <a:latin typeface="+mj-lt"/>
              </a:rPr>
              <a:t>Modelos </a:t>
            </a:r>
            <a:r>
              <a:rPr lang="pt-BR" dirty="0" err="1">
                <a:latin typeface="+mj-lt"/>
              </a:rPr>
              <a:t>Qtd</a:t>
            </a:r>
            <a:endParaRPr lang="pt-BR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18725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4949A-203F-228E-F611-6CE5A7947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E7BC1F-4723-E00C-44BA-8385B78EB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>
                <a:latin typeface="+mj-lt"/>
              </a:rPr>
              <a:t>Melhores Modelos Valor</a:t>
            </a:r>
          </a:p>
        </p:txBody>
      </p:sp>
    </p:spTree>
    <p:extLst>
      <p:ext uri="{BB962C8B-B14F-4D97-AF65-F5344CB8AC3E}">
        <p14:creationId xmlns:p14="http://schemas.microsoft.com/office/powerpoint/2010/main" val="1740353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6BD7E-0B26-8D1B-E433-3E04A7D61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EC6F29-E950-084B-D822-20C2C44C1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>
                <a:latin typeface="+mj-lt"/>
              </a:rPr>
              <a:t>Modelos de Totais Mensais</a:t>
            </a:r>
          </a:p>
        </p:txBody>
      </p:sp>
    </p:spTree>
    <p:extLst>
      <p:ext uri="{BB962C8B-B14F-4D97-AF65-F5344CB8AC3E}">
        <p14:creationId xmlns:p14="http://schemas.microsoft.com/office/powerpoint/2010/main" val="1032647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4CCD1-F713-2967-BE1F-B209AAEF3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E7FC0A-1DC7-A0A4-D386-4C839573C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</a:t>
            </a:r>
            <a:r>
              <a:rPr lang="pt-BR" dirty="0" err="1"/>
              <a:t>Nowcast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26F3D0-F214-D8E2-955A-48F1C4152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extra da análise foi realizado um estudo de predição do total mensal utilizando os modelos SARIMA para quantidade e valor. A ideia é:</a:t>
            </a:r>
          </a:p>
          <a:p>
            <a:r>
              <a:rPr lang="pt-BR" dirty="0" err="1"/>
              <a:t>Nowcast</a:t>
            </a:r>
            <a:r>
              <a:rPr lang="pt-BR" dirty="0"/>
              <a:t>(D) = realizado acumulado até o dia D + previsão dos dias úteis restantes do mês</a:t>
            </a:r>
          </a:p>
          <a:p>
            <a:r>
              <a:rPr lang="pt-BR" dirty="0"/>
              <a:t>Conforme o mês avança, mais dias viram realizado e menos ficam a cargo da previsão → a</a:t>
            </a:r>
            <a:br>
              <a:rPr lang="pt-BR" dirty="0"/>
            </a:br>
            <a:r>
              <a:rPr lang="pt-BR" dirty="0"/>
              <a:t>estimativa do total </a:t>
            </a:r>
            <a:r>
              <a:rPr lang="pt-BR" b="1" dirty="0"/>
              <a:t>converge</a:t>
            </a:r>
            <a:r>
              <a:rPr lang="pt-BR" dirty="0"/>
              <a:t> dia a dia.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4A454DC-D01E-6448-EDDE-916466275E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633097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A10E0-AEAC-C908-3D93-1EAB14BDB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2A3A3-877B-0598-17FE-28F23CCCC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</a:t>
            </a:r>
            <a:r>
              <a:rPr lang="pt-BR" dirty="0" err="1"/>
              <a:t>Nowcast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487E6C-CC0D-DF27-149C-257505848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extra da análise foi realizado um estudo de predição mensal utilizando os modelos SARIMA para quantidade e valor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21B3D23-EE00-0E5B-25EA-E5495CAAA4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A031498-1422-791C-B2B2-82320A683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725" y="2030181"/>
            <a:ext cx="10086975" cy="428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118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17A61-9CD4-1270-2B97-165968947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334CCD-BFD2-9EA6-B839-DF4132685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</a:t>
            </a:r>
            <a:r>
              <a:rPr lang="pt-BR" dirty="0" err="1"/>
              <a:t>Nowcast</a:t>
            </a:r>
            <a:r>
              <a:rPr lang="pt-BR" dirty="0"/>
              <a:t> Valor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15EF07-1ED6-A30C-DD1B-82FBA4C63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extra da análise foi realizado um estudo de predição mensal utilizando os modelos SARIMA para quantidade e valor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41202EA-987D-427E-400D-62D2F729F3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E3CDAEB-155D-7292-0EB7-5BCC397ED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7245"/>
            <a:ext cx="12192000" cy="528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673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852D6-76A4-CA40-10A4-09CC1A519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018086-E8D3-1DA0-889E-C8DB681D7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FA8D53-FEEE-7EC1-B233-34A951940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5B37ACE-72D9-D4D2-4E51-18216E0156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8E8FB54-E45A-0A99-74E0-ECAE895C8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009" y="0"/>
            <a:ext cx="96219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35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78472-8DE2-92D1-44C1-D64E51B2D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01F4AB-A0FB-87CA-18D9-4DEE6D1C0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</a:t>
            </a:r>
            <a:r>
              <a:rPr lang="pt-BR" dirty="0" err="1"/>
              <a:t>Nowcast</a:t>
            </a:r>
            <a:r>
              <a:rPr lang="pt-BR" dirty="0"/>
              <a:t> Valor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0B538F-FE84-E957-BB71-C18E44A3C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extra da análise foi realizado um estudo de predição mensal utilizando os modelos SARIMA para quantidade e valor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2344879-D5BF-1301-6E62-DDADA868B4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EAB211E-452F-9A2A-970B-FD1618DB2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763"/>
            <a:ext cx="12192000" cy="52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637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B34D7-11FB-FC9F-897D-5F4D06BB5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90452-05EF-FA23-E320-4E9E008A0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316CD8-28FF-D65F-8BC3-39C905B02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6BC6387-CD48-4404-27A3-520584E340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C472A47-D5E4-AC39-6190-7E703FE80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009" y="0"/>
            <a:ext cx="96219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108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088D8-9FEA-087F-EA84-C670DD55D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FE0C4-C229-0607-59B9-5868DB8E7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Modelo (de fato) Mensal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E7718E-73C5-067A-9B74-3120E6521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Utilizando modelos para prever </a:t>
            </a:r>
            <a:r>
              <a:rPr lang="pt-BR" b="1" dirty="0"/>
              <a:t>diretamente</a:t>
            </a:r>
            <a:r>
              <a:rPr lang="pt-BR" dirty="0"/>
              <a:t> o realizado de quantidade e valor mensais (em vez de fazer a predição da trajetória e agregação):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Modelos de machine learning e outros lineares</a:t>
            </a:r>
          </a:p>
          <a:p>
            <a:pPr marL="0" indent="0">
              <a:buNone/>
            </a:pPr>
            <a:r>
              <a:rPr lang="pt-BR" dirty="0"/>
              <a:t>foram testados, mas nenhum teve um desempenho</a:t>
            </a:r>
          </a:p>
          <a:p>
            <a:pPr marL="0" indent="0">
              <a:buNone/>
            </a:pPr>
            <a:r>
              <a:rPr lang="pt-BR" dirty="0"/>
              <a:t>melhor que os aqui mencionados e o </a:t>
            </a:r>
            <a:r>
              <a:rPr lang="pt-BR" dirty="0" err="1"/>
              <a:t>nowcasting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A77B842-999C-E260-FBC8-212EE0A15B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D783413-1668-18B6-5683-CE59EC1BE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79" y="2225810"/>
            <a:ext cx="5410955" cy="177189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E076C12-4EDA-566A-3B3B-EEA4439C9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729" y="1792001"/>
            <a:ext cx="5753903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245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1DBCE-733F-FC2E-6114-9A06BF598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CA261-D309-DE91-3417-0D7BC19FD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Comparações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C2D823B-B45D-2F04-05D2-D65DF37094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sz="2000" dirty="0"/>
              <a:t>Valor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8A6FDFF-8DCD-0FF9-AEEA-9418D7470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BAB63A2-777F-B799-899D-2E9341664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6016"/>
            <a:ext cx="12192000" cy="483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668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FAF1C-2AA5-A4F0-57A3-ABCBDAFF1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C2E63D-9ADB-899D-F372-71DC241CA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Comparações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EFD564F-6896-667F-1553-9E969BA0EE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sz="2000" dirty="0"/>
              <a:t>Valor</a:t>
            </a:r>
          </a:p>
        </p:txBody>
      </p:sp>
      <p:graphicFrame>
        <p:nvGraphicFramePr>
          <p:cNvPr id="3" name="Espaço Reservado para Conteúdo 2">
            <a:extLst>
              <a:ext uri="{FF2B5EF4-FFF2-40B4-BE49-F238E27FC236}">
                <a16:creationId xmlns:a16="http://schemas.microsoft.com/office/drawing/2014/main" id="{C960BFDD-7A26-4053-0909-42F893674B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9672639"/>
              </p:ext>
            </p:extLst>
          </p:nvPr>
        </p:nvGraphicFramePr>
        <p:xfrm>
          <a:off x="320675" y="1408113"/>
          <a:ext cx="11550644" cy="1950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0092">
                  <a:extLst>
                    <a:ext uri="{9D8B030D-6E8A-4147-A177-3AD203B41FA5}">
                      <a16:colId xmlns:a16="http://schemas.microsoft.com/office/drawing/2014/main" val="3077349959"/>
                    </a:ext>
                  </a:extLst>
                </a:gridCol>
                <a:gridCol w="1650092">
                  <a:extLst>
                    <a:ext uri="{9D8B030D-6E8A-4147-A177-3AD203B41FA5}">
                      <a16:colId xmlns:a16="http://schemas.microsoft.com/office/drawing/2014/main" val="1073948831"/>
                    </a:ext>
                  </a:extLst>
                </a:gridCol>
                <a:gridCol w="1650092">
                  <a:extLst>
                    <a:ext uri="{9D8B030D-6E8A-4147-A177-3AD203B41FA5}">
                      <a16:colId xmlns:a16="http://schemas.microsoft.com/office/drawing/2014/main" val="4230883289"/>
                    </a:ext>
                  </a:extLst>
                </a:gridCol>
                <a:gridCol w="1650092">
                  <a:extLst>
                    <a:ext uri="{9D8B030D-6E8A-4147-A177-3AD203B41FA5}">
                      <a16:colId xmlns:a16="http://schemas.microsoft.com/office/drawing/2014/main" val="896743448"/>
                    </a:ext>
                  </a:extLst>
                </a:gridCol>
                <a:gridCol w="1650092">
                  <a:extLst>
                    <a:ext uri="{9D8B030D-6E8A-4147-A177-3AD203B41FA5}">
                      <a16:colId xmlns:a16="http://schemas.microsoft.com/office/drawing/2014/main" val="30920777"/>
                    </a:ext>
                  </a:extLst>
                </a:gridCol>
                <a:gridCol w="1650092">
                  <a:extLst>
                    <a:ext uri="{9D8B030D-6E8A-4147-A177-3AD203B41FA5}">
                      <a16:colId xmlns:a16="http://schemas.microsoft.com/office/drawing/2014/main" val="2817583172"/>
                    </a:ext>
                  </a:extLst>
                </a:gridCol>
                <a:gridCol w="1650092">
                  <a:extLst>
                    <a:ext uri="{9D8B030D-6E8A-4147-A177-3AD203B41FA5}">
                      <a16:colId xmlns:a16="http://schemas.microsoft.com/office/drawing/2014/main" val="35576084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Modelo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MAPE Medio (%)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RMSPE (%)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Mediana (%)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Max (%)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Vies (real-prev)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32390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Naive (mes-1)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3.53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4.66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2.33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0.641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2770564.0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278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Nowcast (ult. dia mes-1)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4.43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0.547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2847009.5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06546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MediaUtil MM3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6.92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6545220.6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88277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ARIMAX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8.53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7.77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-0.078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6106008.9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91759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1642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111F4-7B99-3D67-CA85-460C0990D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314AA-2B59-AD80-67E3-6A78C533A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Comparações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2F590D5-C7BA-A27F-6901-305E8F957C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sz="2000" dirty="0"/>
              <a:t>Valor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A1D61292-FCC6-EE63-242A-0B2ED6676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00C87FC-EAF7-ACDF-B8B5-5DF00EC56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66" y="1270435"/>
            <a:ext cx="11410238" cy="461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697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07BD5-9BDD-B3E3-3704-3139519D5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B5BD53-E021-5962-4C26-58ED0CC0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Comparações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769962-16E2-6402-593A-0E36138059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sz="2000" dirty="0"/>
              <a:t>Quantidade</a:t>
            </a:r>
          </a:p>
        </p:txBody>
      </p:sp>
      <p:graphicFrame>
        <p:nvGraphicFramePr>
          <p:cNvPr id="7" name="Espaço Reservado para Conteúdo 6">
            <a:extLst>
              <a:ext uri="{FF2B5EF4-FFF2-40B4-BE49-F238E27FC236}">
                <a16:creationId xmlns:a16="http://schemas.microsoft.com/office/drawing/2014/main" id="{383065B8-6ABD-5EB2-968F-60543BC92A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0066861"/>
              </p:ext>
            </p:extLst>
          </p:nvPr>
        </p:nvGraphicFramePr>
        <p:xfrm>
          <a:off x="320675" y="1408113"/>
          <a:ext cx="11550644" cy="1950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0092">
                  <a:extLst>
                    <a:ext uri="{9D8B030D-6E8A-4147-A177-3AD203B41FA5}">
                      <a16:colId xmlns:a16="http://schemas.microsoft.com/office/drawing/2014/main" val="3895183671"/>
                    </a:ext>
                  </a:extLst>
                </a:gridCol>
                <a:gridCol w="1650092">
                  <a:extLst>
                    <a:ext uri="{9D8B030D-6E8A-4147-A177-3AD203B41FA5}">
                      <a16:colId xmlns:a16="http://schemas.microsoft.com/office/drawing/2014/main" val="1307303306"/>
                    </a:ext>
                  </a:extLst>
                </a:gridCol>
                <a:gridCol w="1650092">
                  <a:extLst>
                    <a:ext uri="{9D8B030D-6E8A-4147-A177-3AD203B41FA5}">
                      <a16:colId xmlns:a16="http://schemas.microsoft.com/office/drawing/2014/main" val="508415562"/>
                    </a:ext>
                  </a:extLst>
                </a:gridCol>
                <a:gridCol w="1650092">
                  <a:extLst>
                    <a:ext uri="{9D8B030D-6E8A-4147-A177-3AD203B41FA5}">
                      <a16:colId xmlns:a16="http://schemas.microsoft.com/office/drawing/2014/main" val="2472840447"/>
                    </a:ext>
                  </a:extLst>
                </a:gridCol>
                <a:gridCol w="1650092">
                  <a:extLst>
                    <a:ext uri="{9D8B030D-6E8A-4147-A177-3AD203B41FA5}">
                      <a16:colId xmlns:a16="http://schemas.microsoft.com/office/drawing/2014/main" val="2329048695"/>
                    </a:ext>
                  </a:extLst>
                </a:gridCol>
                <a:gridCol w="1650092">
                  <a:extLst>
                    <a:ext uri="{9D8B030D-6E8A-4147-A177-3AD203B41FA5}">
                      <a16:colId xmlns:a16="http://schemas.microsoft.com/office/drawing/2014/main" val="444225805"/>
                    </a:ext>
                  </a:extLst>
                </a:gridCol>
                <a:gridCol w="1650092">
                  <a:extLst>
                    <a:ext uri="{9D8B030D-6E8A-4147-A177-3AD203B41FA5}">
                      <a16:colId xmlns:a16="http://schemas.microsoft.com/office/drawing/2014/main" val="2375661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Modelo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MAPE Medio (%)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RMSPE (%)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Mediana (%)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Max (%)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Vies (real-prev)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46618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Naive (mes-1)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2.94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3.64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6.89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0.597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638.6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47782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MediaUtil MM3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2.77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1774.8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44522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Nowcast (ult. dia mes-1)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4.57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3.82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0.368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640.1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0391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ARIMAX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5.49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3.65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-0.277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2778.6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39835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9544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19CE2-BBA9-44D6-5706-6862B7A3C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9AE39C-51AA-CD59-1F70-66B6531D9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Comparações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D34892B-DCF0-6723-09E1-424F598771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sz="2000" dirty="0"/>
              <a:t>Quantidade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DA71692-17F5-2404-BD12-F97AC0E17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B8796C9-93F8-DEB9-AE7E-B0680A995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435"/>
            <a:ext cx="12192000" cy="483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606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17899-77A3-988F-1964-A106DDCEB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EBE82-734E-773D-5CBC-3198D130B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Comparações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28377F-01C3-D537-85BD-02549B753F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sz="2000" dirty="0"/>
              <a:t>Quantidade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BEB90653-3354-C9D5-3C5B-2EF6E06BB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E82978B-A746-DDC5-D578-BF5F2654E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66" y="1270435"/>
            <a:ext cx="11802542" cy="476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85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e3e25a8-909c-4fe4-b1bc-40ea8258d7e7}" enabled="1" method="Standard" siteId="{45fc95ed-6a44-47aa-84cf-dd2e7fc975b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27153</TotalTime>
  <Words>344</Words>
  <Application>Microsoft Office PowerPoint</Application>
  <PresentationFormat>Widescreen</PresentationFormat>
  <Paragraphs>110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Aptos Narrow</vt:lpstr>
      <vt:lpstr>Arial</vt:lpstr>
      <vt:lpstr>Office Theme</vt:lpstr>
      <vt:lpstr>Projeção de Vendas Modelos Mensais</vt:lpstr>
      <vt:lpstr>Apresentação do PowerPoint</vt:lpstr>
      <vt:lpstr>Modelo Diário de Vendas</vt:lpstr>
      <vt:lpstr>Apresentação do PowerPoint</vt:lpstr>
      <vt:lpstr>Apresentação do PowerPoint</vt:lpstr>
      <vt:lpstr>Apresentação do PowerPoint</vt:lpstr>
      <vt:lpstr>Apresentação do PowerPoint</vt:lpstr>
      <vt:lpstr>Método Nowcast</vt:lpstr>
      <vt:lpstr>Método Nowcast</vt:lpstr>
      <vt:lpstr>Método Nowcast Valor</vt:lpstr>
      <vt:lpstr>Apresentação do PowerPoint</vt:lpstr>
      <vt:lpstr>Método Nowcast Valor</vt:lpstr>
      <vt:lpstr>Apresentação do PowerPoint</vt:lpstr>
      <vt:lpstr>Método Modelo (de fato) Mensal</vt:lpstr>
      <vt:lpstr>Comparações</vt:lpstr>
      <vt:lpstr>Comparações</vt:lpstr>
      <vt:lpstr>Comparações</vt:lpstr>
      <vt:lpstr>Comparações</vt:lpstr>
      <vt:lpstr>Comparações</vt:lpstr>
      <vt:lpstr>Comparações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Ageu de Araujo Machado</dc:creator>
  <cp:lastModifiedBy>DANIEL ALEXANDRE RAMAZZOTTE</cp:lastModifiedBy>
  <cp:revision>37</cp:revision>
  <dcterms:created xsi:type="dcterms:W3CDTF">2024-02-19T00:43:26Z</dcterms:created>
  <dcterms:modified xsi:type="dcterms:W3CDTF">2026-07-16T20:21:03Z</dcterms:modified>
</cp:coreProperties>
</file>